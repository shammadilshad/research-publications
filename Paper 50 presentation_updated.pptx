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embeddedFontLst>
    <p:embeddedFont>
      <p:font typeface="Montserrat" panose="020B0604020202020204" charset="0"/>
      <p:regular r:id="rId21"/>
      <p:bold r:id="rId22"/>
      <p:italic r:id="rId23"/>
      <p:boldItalic r:id="rId24"/>
    </p:embeddedFont>
    <p:embeddedFont>
      <p:font typeface="Montserrat ExtraBold" panose="020B0604020202020204" charset="0"/>
      <p:bold r:id="rId25"/>
      <p:boldItalic r:id="rId26"/>
    </p:embeddedFont>
    <p:embeddedFont>
      <p:font typeface="Montserrat Medium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5A93621-D3AE-4499-8E4A-07BBF22F6F40}">
  <a:tblStyle styleId="{55A93621-D3AE-4499-8E4A-07BBF22F6F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14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7f9262ee2f_0_26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7f9262ee2f_0_26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1467efcead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11467efcead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1467efcead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1467efcead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146c76958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1146c769586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1467efcead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1467efcead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729023341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729023341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146df33af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146df33af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146df33af1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146df33af1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1467efcead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1467efcead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7f9262ee2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7f9262ee2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146df33af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146df33af1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1146df33af1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1146df33af1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146df33af1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1146df33af1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1146df33af1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1146df33af1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146df33af1_3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1146df33af1_3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7f9262ee2f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7f9262ee2f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effectLst>
            <a:outerShdw blurRad="114300" dist="28575" dir="636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5337175" y="1297125"/>
            <a:ext cx="2837400" cy="125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5337175" y="2593875"/>
            <a:ext cx="2837400" cy="12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929477" y="436183"/>
            <a:ext cx="2746500" cy="40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pic>
        <p:nvPicPr>
          <p:cNvPr id="36" name="Google Shape;3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3278924" y="414050"/>
            <a:ext cx="7626551" cy="288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4822414" y="-351911"/>
            <a:ext cx="9309797" cy="352027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938500" y="1769575"/>
            <a:ext cx="28716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703375" y="909600"/>
            <a:ext cx="3468900" cy="3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32238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1920750" y="1634425"/>
            <a:ext cx="5302500" cy="11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2786550" y="3094475"/>
            <a:ext cx="3570900" cy="5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2pPr>
            <a:lvl3pPr marL="1371600" lvl="2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3pPr>
            <a:lvl4pPr marL="1828800" lvl="3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4pPr>
            <a:lvl5pPr marL="2286000" lvl="4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5pPr>
            <a:lvl6pPr marL="2743200" lvl="5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6pPr>
            <a:lvl7pPr marL="3200400" lvl="6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7pPr>
            <a:lvl8pPr marL="3657600" lvl="7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8pPr>
            <a:lvl9pPr marL="4114800" lvl="8" indent="-34290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162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marL="914400" lvl="1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marL="1371600" lvl="2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marL="1828800" lvl="3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marL="2286000" lvl="4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marL="2743200" lvl="5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marL="3200400" lvl="6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marL="3657600" lvl="7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marL="4114800" lvl="8" indent="-301625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title" idx="2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3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title" idx="4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ubTitle" idx="5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title" idx="6" hasCustomPrompt="1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5" name="Google Shape;65;p14"/>
          <p:cNvSpPr txBox="1">
            <a:spLocks noGrp="1"/>
          </p:cNvSpPr>
          <p:nvPr>
            <p:ph type="title" idx="7" hasCustomPrompt="1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" name="Google Shape;66;p14"/>
          <p:cNvSpPr txBox="1">
            <a:spLocks noGrp="1"/>
          </p:cNvSpPr>
          <p:nvPr>
            <p:ph type="title" idx="8" hasCustomPrompt="1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  <a:effectLst>
            <a:outerShdw blurRad="57150" dist="19050" dir="5400000" algn="bl" rotWithShape="0">
              <a:srgbClr val="76A5AF">
                <a:alpha val="88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ubTitle" idx="1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ctrTitle"/>
          </p:nvPr>
        </p:nvSpPr>
        <p:spPr>
          <a:xfrm>
            <a:off x="1850525" y="1157925"/>
            <a:ext cx="5442900" cy="26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subTitle" idx="1"/>
          </p:nvPr>
        </p:nvSpPr>
        <p:spPr>
          <a:xfrm>
            <a:off x="2481900" y="3945600"/>
            <a:ext cx="418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Columns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1937338" y="2463175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ubTitle" idx="1"/>
          </p:nvPr>
        </p:nvSpPr>
        <p:spPr>
          <a:xfrm>
            <a:off x="1937338" y="3148075"/>
            <a:ext cx="239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title" idx="2"/>
          </p:nvPr>
        </p:nvSpPr>
        <p:spPr>
          <a:xfrm>
            <a:off x="4816563" y="2463175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ubTitle" idx="3"/>
          </p:nvPr>
        </p:nvSpPr>
        <p:spPr>
          <a:xfrm>
            <a:off x="4816563" y="3148075"/>
            <a:ext cx="239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 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538497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subTitle" idx="1"/>
          </p:nvPr>
        </p:nvSpPr>
        <p:spPr>
          <a:xfrm>
            <a:off x="3538497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title" idx="2"/>
          </p:nvPr>
        </p:nvSpPr>
        <p:spPr>
          <a:xfrm>
            <a:off x="6028553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subTitle" idx="3"/>
          </p:nvPr>
        </p:nvSpPr>
        <p:spPr>
          <a:xfrm>
            <a:off x="6028553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title" idx="5"/>
          </p:nvPr>
        </p:nvSpPr>
        <p:spPr>
          <a:xfrm>
            <a:off x="1048447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subTitle" idx="6"/>
          </p:nvPr>
        </p:nvSpPr>
        <p:spPr>
          <a:xfrm>
            <a:off x="1048447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>
  <p:cSld name="TITLE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ctrTitle"/>
          </p:nvPr>
        </p:nvSpPr>
        <p:spPr>
          <a:xfrm>
            <a:off x="1273500" y="1369000"/>
            <a:ext cx="6597000" cy="21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ubTitle" idx="1"/>
          </p:nvPr>
        </p:nvSpPr>
        <p:spPr>
          <a:xfrm>
            <a:off x="2481900" y="2519525"/>
            <a:ext cx="418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CAPTION_ONL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1">
  <p:cSld name="CAPTION_ONLY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2">
  <p:cSld name="CAPTION_ONLY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3">
  <p:cSld name="CAPTION_ONLY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Lists">
  <p:cSld name="SECTION_TITLE_AND_DESCRIPTION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body" idx="1"/>
          </p:nvPr>
        </p:nvSpPr>
        <p:spPr>
          <a:xfrm>
            <a:off x="1067241" y="2651775"/>
            <a:ext cx="3258900" cy="17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body" idx="2"/>
          </p:nvPr>
        </p:nvSpPr>
        <p:spPr>
          <a:xfrm>
            <a:off x="4673852" y="2651775"/>
            <a:ext cx="3258900" cy="17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24"/>
          <p:cNvSpPr txBox="1">
            <a:spLocks noGrp="1"/>
          </p:cNvSpPr>
          <p:nvPr>
            <p:ph type="title" idx="3"/>
          </p:nvPr>
        </p:nvSpPr>
        <p:spPr>
          <a:xfrm>
            <a:off x="1213499" y="1955125"/>
            <a:ext cx="32589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24"/>
          <p:cNvSpPr txBox="1">
            <a:spLocks noGrp="1"/>
          </p:cNvSpPr>
          <p:nvPr>
            <p:ph type="title" idx="4"/>
          </p:nvPr>
        </p:nvSpPr>
        <p:spPr>
          <a:xfrm>
            <a:off x="4820099" y="1955125"/>
            <a:ext cx="32589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TITLE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title" idx="2"/>
          </p:nvPr>
        </p:nvSpPr>
        <p:spPr>
          <a:xfrm>
            <a:off x="898386" y="3052625"/>
            <a:ext cx="16716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25"/>
          <p:cNvSpPr txBox="1">
            <a:spLocks noGrp="1"/>
          </p:cNvSpPr>
          <p:nvPr>
            <p:ph type="subTitle" idx="1"/>
          </p:nvPr>
        </p:nvSpPr>
        <p:spPr>
          <a:xfrm>
            <a:off x="898389" y="3558837"/>
            <a:ext cx="1671600" cy="11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25"/>
          <p:cNvSpPr txBox="1">
            <a:spLocks noGrp="1"/>
          </p:cNvSpPr>
          <p:nvPr>
            <p:ph type="title" idx="3"/>
          </p:nvPr>
        </p:nvSpPr>
        <p:spPr>
          <a:xfrm>
            <a:off x="2790261" y="3052625"/>
            <a:ext cx="16716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0" name="Google Shape;120;p25"/>
          <p:cNvSpPr txBox="1">
            <a:spLocks noGrp="1"/>
          </p:cNvSpPr>
          <p:nvPr>
            <p:ph type="subTitle" idx="4"/>
          </p:nvPr>
        </p:nvSpPr>
        <p:spPr>
          <a:xfrm>
            <a:off x="2790264" y="3558837"/>
            <a:ext cx="1671600" cy="11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1" name="Google Shape;121;p25"/>
          <p:cNvSpPr txBox="1">
            <a:spLocks noGrp="1"/>
          </p:cNvSpPr>
          <p:nvPr>
            <p:ph type="title" idx="5"/>
          </p:nvPr>
        </p:nvSpPr>
        <p:spPr>
          <a:xfrm>
            <a:off x="4682136" y="3052625"/>
            <a:ext cx="16716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25"/>
          <p:cNvSpPr txBox="1">
            <a:spLocks noGrp="1"/>
          </p:cNvSpPr>
          <p:nvPr>
            <p:ph type="subTitle" idx="6"/>
          </p:nvPr>
        </p:nvSpPr>
        <p:spPr>
          <a:xfrm>
            <a:off x="4682139" y="3558837"/>
            <a:ext cx="1671600" cy="11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25"/>
          <p:cNvSpPr txBox="1">
            <a:spLocks noGrp="1"/>
          </p:cNvSpPr>
          <p:nvPr>
            <p:ph type="title" idx="7"/>
          </p:nvPr>
        </p:nvSpPr>
        <p:spPr>
          <a:xfrm>
            <a:off x="6574011" y="3052625"/>
            <a:ext cx="16716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25"/>
          <p:cNvSpPr txBox="1">
            <a:spLocks noGrp="1"/>
          </p:cNvSpPr>
          <p:nvPr>
            <p:ph type="subTitle" idx="8"/>
          </p:nvPr>
        </p:nvSpPr>
        <p:spPr>
          <a:xfrm>
            <a:off x="6574014" y="3558837"/>
            <a:ext cx="1671600" cy="11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5" name="Google Shape;125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Numbers">
  <p:cSld name="CAPTION_ONLY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6"/>
          <p:cNvSpPr txBox="1">
            <a:spLocks noGrp="1"/>
          </p:cNvSpPr>
          <p:nvPr>
            <p:ph type="title" hasCustomPrompt="1"/>
          </p:nvPr>
        </p:nvSpPr>
        <p:spPr>
          <a:xfrm>
            <a:off x="4996800" y="661843"/>
            <a:ext cx="31593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8" name="Google Shape;128;p26"/>
          <p:cNvSpPr txBox="1">
            <a:spLocks noGrp="1"/>
          </p:cNvSpPr>
          <p:nvPr>
            <p:ph type="subTitle" idx="1"/>
          </p:nvPr>
        </p:nvSpPr>
        <p:spPr>
          <a:xfrm>
            <a:off x="4911000" y="1265850"/>
            <a:ext cx="3330900" cy="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26"/>
          <p:cNvSpPr txBox="1">
            <a:spLocks noGrp="1"/>
          </p:cNvSpPr>
          <p:nvPr>
            <p:ph type="title" idx="2" hasCustomPrompt="1"/>
          </p:nvPr>
        </p:nvSpPr>
        <p:spPr>
          <a:xfrm>
            <a:off x="4996800" y="2099193"/>
            <a:ext cx="31593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0" name="Google Shape;130;p26"/>
          <p:cNvSpPr txBox="1">
            <a:spLocks noGrp="1"/>
          </p:cNvSpPr>
          <p:nvPr>
            <p:ph type="subTitle" idx="3"/>
          </p:nvPr>
        </p:nvSpPr>
        <p:spPr>
          <a:xfrm>
            <a:off x="4911000" y="2703200"/>
            <a:ext cx="3330900" cy="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1" name="Google Shape;131;p26"/>
          <p:cNvSpPr txBox="1">
            <a:spLocks noGrp="1"/>
          </p:cNvSpPr>
          <p:nvPr>
            <p:ph type="title" idx="4" hasCustomPrompt="1"/>
          </p:nvPr>
        </p:nvSpPr>
        <p:spPr>
          <a:xfrm>
            <a:off x="4996800" y="3536543"/>
            <a:ext cx="31593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2" name="Google Shape;132;p26"/>
          <p:cNvSpPr txBox="1">
            <a:spLocks noGrp="1"/>
          </p:cNvSpPr>
          <p:nvPr>
            <p:ph type="subTitle" idx="5"/>
          </p:nvPr>
        </p:nvSpPr>
        <p:spPr>
          <a:xfrm>
            <a:off x="4911000" y="4140550"/>
            <a:ext cx="3330900" cy="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ix Columns  ">
  <p:cSld name="SECTION_TITLE_AND_DESCRIPTION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 txBox="1">
            <a:spLocks noGrp="1"/>
          </p:cNvSpPr>
          <p:nvPr>
            <p:ph type="title"/>
          </p:nvPr>
        </p:nvSpPr>
        <p:spPr>
          <a:xfrm>
            <a:off x="3538497" y="1818541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6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3538498" y="2324765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7" name="Google Shape;137;p27"/>
          <p:cNvSpPr txBox="1">
            <a:spLocks noGrp="1"/>
          </p:cNvSpPr>
          <p:nvPr>
            <p:ph type="title" idx="2"/>
          </p:nvPr>
        </p:nvSpPr>
        <p:spPr>
          <a:xfrm>
            <a:off x="6028553" y="1818541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8" name="Google Shape;138;p27"/>
          <p:cNvSpPr txBox="1">
            <a:spLocks noGrp="1"/>
          </p:cNvSpPr>
          <p:nvPr>
            <p:ph type="subTitle" idx="3"/>
          </p:nvPr>
        </p:nvSpPr>
        <p:spPr>
          <a:xfrm>
            <a:off x="6028552" y="2324765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9" name="Google Shape;139;p27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27"/>
          <p:cNvSpPr txBox="1">
            <a:spLocks noGrp="1"/>
          </p:cNvSpPr>
          <p:nvPr>
            <p:ph type="title" idx="5"/>
          </p:nvPr>
        </p:nvSpPr>
        <p:spPr>
          <a:xfrm>
            <a:off x="1048447" y="1818541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1" name="Google Shape;141;p27"/>
          <p:cNvSpPr txBox="1">
            <a:spLocks noGrp="1"/>
          </p:cNvSpPr>
          <p:nvPr>
            <p:ph type="subTitle" idx="6"/>
          </p:nvPr>
        </p:nvSpPr>
        <p:spPr>
          <a:xfrm>
            <a:off x="1048450" y="2324765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title" idx="7"/>
          </p:nvPr>
        </p:nvSpPr>
        <p:spPr>
          <a:xfrm>
            <a:off x="3538497" y="332503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27"/>
          <p:cNvSpPr txBox="1">
            <a:spLocks noGrp="1"/>
          </p:cNvSpPr>
          <p:nvPr>
            <p:ph type="subTitle" idx="8"/>
          </p:nvPr>
        </p:nvSpPr>
        <p:spPr>
          <a:xfrm>
            <a:off x="3538498" y="3831259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4" name="Google Shape;144;p27"/>
          <p:cNvSpPr txBox="1">
            <a:spLocks noGrp="1"/>
          </p:cNvSpPr>
          <p:nvPr>
            <p:ph type="title" idx="9"/>
          </p:nvPr>
        </p:nvSpPr>
        <p:spPr>
          <a:xfrm>
            <a:off x="6028553" y="332503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27"/>
          <p:cNvSpPr txBox="1">
            <a:spLocks noGrp="1"/>
          </p:cNvSpPr>
          <p:nvPr>
            <p:ph type="subTitle" idx="13"/>
          </p:nvPr>
        </p:nvSpPr>
        <p:spPr>
          <a:xfrm>
            <a:off x="6028552" y="3831259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27"/>
          <p:cNvSpPr txBox="1">
            <a:spLocks noGrp="1"/>
          </p:cNvSpPr>
          <p:nvPr>
            <p:ph type="title" idx="14"/>
          </p:nvPr>
        </p:nvSpPr>
        <p:spPr>
          <a:xfrm>
            <a:off x="1048447" y="332503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27"/>
          <p:cNvSpPr txBox="1">
            <a:spLocks noGrp="1"/>
          </p:cNvSpPr>
          <p:nvPr>
            <p:ph type="subTitle" idx="15"/>
          </p:nvPr>
        </p:nvSpPr>
        <p:spPr>
          <a:xfrm>
            <a:off x="1048450" y="3831259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 1">
  <p:cSld name="TITLE_1_1_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0436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1" name="Google Shape;151;p28"/>
          <p:cNvSpPr txBox="1">
            <a:spLocks noGrp="1"/>
          </p:cNvSpPr>
          <p:nvPr>
            <p:ph type="title" idx="2"/>
          </p:nvPr>
        </p:nvSpPr>
        <p:spPr>
          <a:xfrm>
            <a:off x="1338238" y="2359825"/>
            <a:ext cx="2727600" cy="3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2" name="Google Shape;152;p28"/>
          <p:cNvSpPr txBox="1">
            <a:spLocks noGrp="1"/>
          </p:cNvSpPr>
          <p:nvPr>
            <p:ph type="subTitle" idx="1"/>
          </p:nvPr>
        </p:nvSpPr>
        <p:spPr>
          <a:xfrm>
            <a:off x="1338238" y="1713051"/>
            <a:ext cx="2727600" cy="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3" name="Google Shape;153;p28"/>
          <p:cNvSpPr txBox="1">
            <a:spLocks noGrp="1"/>
          </p:cNvSpPr>
          <p:nvPr>
            <p:ph type="title" idx="3"/>
          </p:nvPr>
        </p:nvSpPr>
        <p:spPr>
          <a:xfrm>
            <a:off x="1338238" y="3988950"/>
            <a:ext cx="2727600" cy="3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p28"/>
          <p:cNvSpPr txBox="1">
            <a:spLocks noGrp="1"/>
          </p:cNvSpPr>
          <p:nvPr>
            <p:ph type="subTitle" idx="4"/>
          </p:nvPr>
        </p:nvSpPr>
        <p:spPr>
          <a:xfrm>
            <a:off x="1338238" y="3342176"/>
            <a:ext cx="2727600" cy="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28"/>
          <p:cNvSpPr txBox="1">
            <a:spLocks noGrp="1"/>
          </p:cNvSpPr>
          <p:nvPr>
            <p:ph type="title" idx="5"/>
          </p:nvPr>
        </p:nvSpPr>
        <p:spPr>
          <a:xfrm>
            <a:off x="5078163" y="2359825"/>
            <a:ext cx="2727600" cy="3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28"/>
          <p:cNvSpPr txBox="1">
            <a:spLocks noGrp="1"/>
          </p:cNvSpPr>
          <p:nvPr>
            <p:ph type="subTitle" idx="6"/>
          </p:nvPr>
        </p:nvSpPr>
        <p:spPr>
          <a:xfrm>
            <a:off x="5078163" y="1713051"/>
            <a:ext cx="2727600" cy="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7" name="Google Shape;157;p28"/>
          <p:cNvSpPr txBox="1">
            <a:spLocks noGrp="1"/>
          </p:cNvSpPr>
          <p:nvPr>
            <p:ph type="title" idx="7"/>
          </p:nvPr>
        </p:nvSpPr>
        <p:spPr>
          <a:xfrm>
            <a:off x="5078163" y="3988950"/>
            <a:ext cx="2727600" cy="3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28"/>
          <p:cNvSpPr txBox="1">
            <a:spLocks noGrp="1"/>
          </p:cNvSpPr>
          <p:nvPr>
            <p:ph type="subTitle" idx="8"/>
          </p:nvPr>
        </p:nvSpPr>
        <p:spPr>
          <a:xfrm>
            <a:off x="5078163" y="3342176"/>
            <a:ext cx="2727600" cy="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SECTION_TITLE_AND_DESCRIPTION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>
            <a:spLocks noGrp="1"/>
          </p:cNvSpPr>
          <p:nvPr>
            <p:ph type="subTitle" idx="1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2" name="Google Shape;162;p29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TITLE_ONL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30"/>
          <p:cNvSpPr txBox="1">
            <a:spLocks noGrp="1"/>
          </p:cNvSpPr>
          <p:nvPr>
            <p:ph type="subTitle" idx="1"/>
          </p:nvPr>
        </p:nvSpPr>
        <p:spPr>
          <a:xfrm>
            <a:off x="938500" y="2435925"/>
            <a:ext cx="2556300" cy="20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CAPTION_ONLY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31"/>
          <p:cNvSpPr txBox="1">
            <a:spLocks noGrp="1"/>
          </p:cNvSpPr>
          <p:nvPr>
            <p:ph type="subTitle" idx="1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1" name="Google Shape;171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">
  <p:cSld name="SECTION_HEADER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>
            <a:spLocks noGrp="1"/>
          </p:cNvSpPr>
          <p:nvPr>
            <p:ph type="title"/>
          </p:nvPr>
        </p:nvSpPr>
        <p:spPr>
          <a:xfrm>
            <a:off x="2062800" y="2442050"/>
            <a:ext cx="50184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4" name="Google Shape;174;p32"/>
          <p:cNvSpPr txBox="1">
            <a:spLocks noGrp="1"/>
          </p:cNvSpPr>
          <p:nvPr>
            <p:ph type="subTitle" idx="1"/>
          </p:nvPr>
        </p:nvSpPr>
        <p:spPr>
          <a:xfrm>
            <a:off x="2896500" y="3391325"/>
            <a:ext cx="3351000" cy="11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+ Credits">
  <p:cSld name="SECTION_HEAD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>
            <a:spLocks noGrp="1"/>
          </p:cNvSpPr>
          <p:nvPr>
            <p:ph type="title"/>
          </p:nvPr>
        </p:nvSpPr>
        <p:spPr>
          <a:xfrm>
            <a:off x="924870" y="760375"/>
            <a:ext cx="30687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8" name="Google Shape;178;p33"/>
          <p:cNvSpPr txBox="1">
            <a:spLocks noGrp="1"/>
          </p:cNvSpPr>
          <p:nvPr>
            <p:ph type="subTitle" idx="1"/>
          </p:nvPr>
        </p:nvSpPr>
        <p:spPr>
          <a:xfrm>
            <a:off x="924875" y="1684275"/>
            <a:ext cx="3305400" cy="10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79" name="Google Shape;179;p33"/>
          <p:cNvSpPr txBox="1"/>
          <p:nvPr/>
        </p:nvSpPr>
        <p:spPr>
          <a:xfrm>
            <a:off x="924875" y="3570000"/>
            <a:ext cx="33054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CREDITS: This presentation template was created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including icons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and infographics &amp; images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0" name="Google Shape;180;p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 1">
  <p:cSld name="SECTION_TITLE_AND_DESCRIPTION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34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4" name="Google Shape;184;p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list">
  <p:cSld name="TITLE_AND_TWO_COLUMNS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35"/>
          <p:cNvSpPr txBox="1">
            <a:spLocks noGrp="1"/>
          </p:cNvSpPr>
          <p:nvPr>
            <p:ph type="body" idx="1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8" name="Google Shape;188;p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6" Type="http://schemas.microsoft.com/office/2007/relationships/hdphoto" Target="../media/hdphoto2.wdp"/><Relationship Id="rId5" Type="http://schemas.openxmlformats.org/officeDocument/2006/relationships/image" Target="../media/image25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4" Type="http://schemas.microsoft.com/office/2007/relationships/hdphoto" Target="../media/hdphoto3.wdp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 txBox="1">
            <a:spLocks noGrp="1"/>
          </p:cNvSpPr>
          <p:nvPr>
            <p:ph type="ctrTitle"/>
          </p:nvPr>
        </p:nvSpPr>
        <p:spPr>
          <a:xfrm>
            <a:off x="361625" y="261200"/>
            <a:ext cx="7886100" cy="1346100"/>
          </a:xfrm>
          <a:prstGeom prst="rect">
            <a:avLst/>
          </a:prstGeom>
          <a:effectLst>
            <a:outerShdw blurRad="142875" dist="19050" dir="87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0">
                <a:latin typeface="Montserrat"/>
                <a:ea typeface="Montserrat"/>
                <a:cs typeface="Montserrat"/>
                <a:sym typeface="Montserrat"/>
              </a:rPr>
              <a:t>International Conference On Innovations In Science,Engineering And Technology 2022</a:t>
            </a:r>
            <a:endParaRPr sz="2700" b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0">
                <a:latin typeface="Montserrat"/>
                <a:ea typeface="Montserrat"/>
                <a:cs typeface="Montserrat"/>
                <a:sym typeface="Montserrat"/>
              </a:rPr>
              <a:t>(ICISET-2022)</a:t>
            </a:r>
            <a:endParaRPr sz="2700"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36"/>
          <p:cNvSpPr txBox="1">
            <a:spLocks noGrp="1"/>
          </p:cNvSpPr>
          <p:nvPr>
            <p:ph type="subTitle" idx="1"/>
          </p:nvPr>
        </p:nvSpPr>
        <p:spPr>
          <a:xfrm>
            <a:off x="2772675" y="3253300"/>
            <a:ext cx="3938100" cy="4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Paper ID: 50</a:t>
            </a:r>
            <a:endParaRPr/>
          </a:p>
        </p:txBody>
      </p:sp>
      <p:sp>
        <p:nvSpPr>
          <p:cNvPr id="195" name="Google Shape;195;p36"/>
          <p:cNvSpPr txBox="1">
            <a:spLocks noGrp="1"/>
          </p:cNvSpPr>
          <p:nvPr>
            <p:ph type="ctrTitle"/>
          </p:nvPr>
        </p:nvSpPr>
        <p:spPr>
          <a:xfrm>
            <a:off x="1534900" y="1866150"/>
            <a:ext cx="5916900" cy="1182900"/>
          </a:xfrm>
          <a:prstGeom prst="rect">
            <a:avLst/>
          </a:prstGeom>
          <a:effectLst>
            <a:outerShdw blurRad="100013" dist="19050" dir="84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Securing Certificate Management  System Using Hyperledger Based Private Blockchain</a:t>
            </a:r>
            <a:endParaRPr sz="22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197" name="Google Shape;197;p36"/>
          <p:cNvSpPr txBox="1"/>
          <p:nvPr/>
        </p:nvSpPr>
        <p:spPr>
          <a:xfrm>
            <a:off x="7725300" y="4349650"/>
            <a:ext cx="141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8" name="Google Shape;198;p36"/>
          <p:cNvCxnSpPr/>
          <p:nvPr/>
        </p:nvCxnSpPr>
        <p:spPr>
          <a:xfrm>
            <a:off x="3111850" y="1778797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199" name="Google Shape;199;p36"/>
          <p:cNvSpPr txBox="1"/>
          <p:nvPr/>
        </p:nvSpPr>
        <p:spPr>
          <a:xfrm>
            <a:off x="2196075" y="3618600"/>
            <a:ext cx="51738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Authors: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Saha Reno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Mamun Ahmed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Saima Ahmed Jui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Shamma Dilshad (Presenting Author)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7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205" name="Google Shape;205;p37"/>
          <p:cNvSpPr txBox="1">
            <a:spLocks noGrp="1"/>
          </p:cNvSpPr>
          <p:nvPr>
            <p:ph type="body" idx="1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</a:pPr>
            <a:r>
              <a:rPr lang="en" sz="2000"/>
              <a:t>Introduction</a:t>
            </a:r>
            <a:endParaRPr sz="2000"/>
          </a:p>
          <a:p>
            <a:pPr marL="9144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</a:pPr>
            <a:r>
              <a:rPr lang="en" sz="2000"/>
              <a:t>Literature Review</a:t>
            </a:r>
            <a:endParaRPr sz="2000"/>
          </a:p>
          <a:p>
            <a:pPr marL="9144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</a:pPr>
            <a:r>
              <a:rPr lang="en" sz="2000"/>
              <a:t>Problem Statement</a:t>
            </a:r>
            <a:endParaRPr sz="2000"/>
          </a:p>
          <a:p>
            <a:pPr marL="9144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</a:pPr>
            <a:r>
              <a:rPr lang="en" sz="2000"/>
              <a:t>Objectives</a:t>
            </a:r>
            <a:endParaRPr sz="2000"/>
          </a:p>
          <a:p>
            <a:pPr marL="9144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</a:pPr>
            <a:r>
              <a:rPr lang="en" sz="2000"/>
              <a:t>Proposed Approach</a:t>
            </a:r>
            <a:endParaRPr sz="2000"/>
          </a:p>
          <a:p>
            <a:pPr marL="9144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</a:pPr>
            <a:r>
              <a:rPr lang="en" sz="2000"/>
              <a:t>Methodology</a:t>
            </a:r>
            <a:endParaRPr sz="2000"/>
          </a:p>
          <a:p>
            <a:pPr marL="9144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</a:pPr>
            <a:r>
              <a:rPr lang="en" sz="2000"/>
              <a:t>Result Analysis</a:t>
            </a:r>
            <a:endParaRPr sz="2000"/>
          </a:p>
          <a:p>
            <a:pPr marL="9144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●"/>
            </a:pPr>
            <a:r>
              <a:rPr lang="en" sz="2000"/>
              <a:t>Conclusion &amp; Future Recommendation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2000"/>
          </a:p>
        </p:txBody>
      </p:sp>
      <p:cxnSp>
        <p:nvCxnSpPr>
          <p:cNvPr id="206" name="Google Shape;206;p37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07" name="Google Shape;207;p37"/>
          <p:cNvSpPr txBox="1"/>
          <p:nvPr/>
        </p:nvSpPr>
        <p:spPr>
          <a:xfrm>
            <a:off x="938500" y="4221950"/>
            <a:ext cx="68202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150">
              <a:solidFill>
                <a:schemeClr val="accen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08" name="Google Shape;208;p3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09" name="Google Shape;209;p37"/>
          <p:cNvSpPr txBox="1"/>
          <p:nvPr/>
        </p:nvSpPr>
        <p:spPr>
          <a:xfrm>
            <a:off x="0" y="4620250"/>
            <a:ext cx="1026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ICISET 2022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Paper Id: 50</a:t>
            </a:r>
            <a:endParaRPr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8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15" name="Google Shape;215;p38"/>
          <p:cNvSpPr txBox="1">
            <a:spLocks noGrp="1"/>
          </p:cNvSpPr>
          <p:nvPr>
            <p:ph type="body" idx="1"/>
          </p:nvPr>
        </p:nvSpPr>
        <p:spPr>
          <a:xfrm>
            <a:off x="827725" y="1136702"/>
            <a:ext cx="7007700" cy="31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 blockchain is a decentralized, shared, and frequently open immutable ledger made up of blocks that are used to record transactions across multiple computers.</a:t>
            </a:r>
            <a:endParaRPr sz="1600"/>
          </a:p>
          <a:p>
            <a:pPr marL="45720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-3492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Char char="●"/>
            </a:pPr>
            <a:r>
              <a:rPr lang="en" sz="1600"/>
              <a:t>Hyperledger blockchain which is an open source and private blockchain and everyone can not access every part. It has permissioned mode of operation and is used to build enterprise blockchains.</a:t>
            </a:r>
            <a:endParaRPr sz="16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500"/>
          </a:p>
        </p:txBody>
      </p:sp>
      <p:cxnSp>
        <p:nvCxnSpPr>
          <p:cNvPr id="216" name="Google Shape;216;p38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17" name="Google Shape;217;p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18" name="Google Shape;218;p38"/>
          <p:cNvSpPr txBox="1"/>
          <p:nvPr/>
        </p:nvSpPr>
        <p:spPr>
          <a:xfrm>
            <a:off x="0" y="4620250"/>
            <a:ext cx="1026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ICISET 2022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Paper Id: 50</a:t>
            </a:r>
            <a:endParaRPr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9"/>
          <p:cNvSpPr txBox="1"/>
          <p:nvPr/>
        </p:nvSpPr>
        <p:spPr>
          <a:xfrm>
            <a:off x="917925" y="569750"/>
            <a:ext cx="41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39"/>
          <p:cNvSpPr txBox="1"/>
          <p:nvPr/>
        </p:nvSpPr>
        <p:spPr>
          <a:xfrm>
            <a:off x="900300" y="305250"/>
            <a:ext cx="7343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LITERATURE REVIEW</a:t>
            </a:r>
            <a:endParaRPr sz="24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25" name="Google Shape;225;p39"/>
          <p:cNvGraphicFramePr/>
          <p:nvPr/>
        </p:nvGraphicFramePr>
        <p:xfrm>
          <a:off x="965600" y="969960"/>
          <a:ext cx="7538975" cy="3650350"/>
        </p:xfrm>
        <a:graphic>
          <a:graphicData uri="http://schemas.openxmlformats.org/drawingml/2006/table">
            <a:tbl>
              <a:tblPr>
                <a:noFill/>
                <a:tableStyleId>{55A93621-D3AE-4499-8E4A-07BBF22F6F40}</a:tableStyleId>
              </a:tblPr>
              <a:tblGrid>
                <a:gridCol w="239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4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Authors</a:t>
                      </a:r>
                      <a:endParaRPr sz="12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2C2C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2C2C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Contribution</a:t>
                      </a:r>
                      <a:endParaRPr sz="12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Limitation</a:t>
                      </a:r>
                      <a:endParaRPr sz="12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2C4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5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B212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Haya R. Hasan,  Khaled Salah, Raja Jayaraman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9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12C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1B212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Blockchain-based Solution for COVID-19 Digital Medical Passports and Immunity Certificates.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9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200">
                          <a:solidFill>
                            <a:srgbClr val="1B212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Bitcoin and Ethereum based certificate system.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9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0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B212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Mahmudul Hasan, Anichur Rahman, and Md. Jahidul Islam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C8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B212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 Distributed Secure Blockchain based Online Certificate Verification System from Bangladesh Perspective.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C8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B212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Didn’t propose architecture for the graduate in the various stages and also evaluation of performances  isn’t presented in numerous parameters.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C8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5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B212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Irawan Afrianto, Yayan Heryanto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9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B212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Design and Implementation of Work Training Certificate Verification Based On Public Blockchain Platform.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9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The system is more complicated, and using Ethereum transactions is much slower in this system.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9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26" name="Google Shape;226;p39"/>
          <p:cNvCxnSpPr/>
          <p:nvPr/>
        </p:nvCxnSpPr>
        <p:spPr>
          <a:xfrm>
            <a:off x="1093150" y="232747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27" name="Google Shape;227;p39"/>
          <p:cNvSpPr txBox="1"/>
          <p:nvPr/>
        </p:nvSpPr>
        <p:spPr>
          <a:xfrm>
            <a:off x="0" y="-94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39"/>
          <p:cNvSpPr txBox="1"/>
          <p:nvPr/>
        </p:nvSpPr>
        <p:spPr>
          <a:xfrm>
            <a:off x="-62150" y="4620300"/>
            <a:ext cx="1155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ICISET 2022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Paper Id: 50</a:t>
            </a:r>
            <a:endParaRPr sz="11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0"/>
          <p:cNvSpPr txBox="1"/>
          <p:nvPr/>
        </p:nvSpPr>
        <p:spPr>
          <a:xfrm>
            <a:off x="917925" y="569750"/>
            <a:ext cx="41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40"/>
          <p:cNvSpPr txBox="1"/>
          <p:nvPr/>
        </p:nvSpPr>
        <p:spPr>
          <a:xfrm>
            <a:off x="900300" y="305250"/>
            <a:ext cx="7343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LITERATURE REVIEW</a:t>
            </a:r>
            <a:endParaRPr sz="24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36" name="Google Shape;236;p40"/>
          <p:cNvGraphicFramePr/>
          <p:nvPr/>
        </p:nvGraphicFramePr>
        <p:xfrm>
          <a:off x="778675" y="1031463"/>
          <a:ext cx="7586650" cy="3638968"/>
        </p:xfrm>
        <a:graphic>
          <a:graphicData uri="http://schemas.openxmlformats.org/drawingml/2006/table">
            <a:tbl>
              <a:tblPr>
                <a:noFill/>
                <a:tableStyleId>{55A93621-D3AE-4499-8E4A-07BBF22F6F40}</a:tableStyleId>
              </a:tblPr>
              <a:tblGrid>
                <a:gridCol w="239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Authors</a:t>
                      </a:r>
                      <a:endParaRPr sz="12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2C2C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2C2C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Contribution</a:t>
                      </a:r>
                      <a:endParaRPr sz="12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Limitation</a:t>
                      </a:r>
                      <a:endParaRPr sz="12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2C4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Jiin-Chiou Cheng , Narn-Yih Lee, Chien Chi, and Yi-Hua Chen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9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Blockchain and Smart Contracts for Digital Certificates.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9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The system is more complicated, and using Ethereum transactions is much slower in this system.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9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Grather, Wolfgang Kolvenbach, Sabine Ruland, Rudolf Schutte, Julian Torres, Christof Wendland, Florian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sng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C8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Blockchain for education: Lifelong learning passport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C8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</a:t>
                      </a: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 whole system is considered insecure as Ethereum is a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public and permissionless blockchain and therefore, anyone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can access the certificates.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C8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7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Kolvenbach, Sabine Ruland, Rudolf Grather, Wolfgang Prinz, Wolfgang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9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Blockchain 4 Education</a:t>
                      </a:r>
                      <a:endParaRPr sz="1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9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This platform is based on the Ethereum blockchain and uses smart contracts. This system suffers from the same issues as the earlier paper.</a:t>
                      </a:r>
                      <a:endParaRPr sz="1200">
                        <a:highlight>
                          <a:srgbClr val="FFFFFF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9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37" name="Google Shape;237;p40"/>
          <p:cNvCxnSpPr/>
          <p:nvPr/>
        </p:nvCxnSpPr>
        <p:spPr>
          <a:xfrm>
            <a:off x="1093150" y="232747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38" name="Google Shape;238;p40"/>
          <p:cNvSpPr txBox="1"/>
          <p:nvPr/>
        </p:nvSpPr>
        <p:spPr>
          <a:xfrm>
            <a:off x="0" y="-94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40"/>
          <p:cNvSpPr txBox="1"/>
          <p:nvPr/>
        </p:nvSpPr>
        <p:spPr>
          <a:xfrm>
            <a:off x="-62150" y="4620300"/>
            <a:ext cx="1155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ICISET 2022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Paper Id: 50</a:t>
            </a:r>
            <a:endParaRPr sz="11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1"/>
          <p:cNvSpPr txBox="1">
            <a:spLocks noGrp="1"/>
          </p:cNvSpPr>
          <p:nvPr>
            <p:ph type="body" idx="1"/>
          </p:nvPr>
        </p:nvSpPr>
        <p:spPr>
          <a:xfrm>
            <a:off x="637125" y="892200"/>
            <a:ext cx="7530300" cy="360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 digitization of certificates is the major emphasis of certificate management.</a:t>
            </a:r>
            <a:endParaRPr sz="1700"/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Here, the certificate system is implemented using a hyperledger-based low-cost and private blockchain. </a:t>
            </a:r>
            <a:endParaRPr sz="1700"/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 Hyperledger blockchain can prevent certificate falsification and duplication.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1500"/>
          </a:p>
        </p:txBody>
      </p:sp>
      <p:sp>
        <p:nvSpPr>
          <p:cNvPr id="246" name="Google Shape;246;p41"/>
          <p:cNvSpPr txBox="1">
            <a:spLocks noGrp="1"/>
          </p:cNvSpPr>
          <p:nvPr>
            <p:ph type="title"/>
          </p:nvPr>
        </p:nvSpPr>
        <p:spPr>
          <a:xfrm>
            <a:off x="938500" y="414025"/>
            <a:ext cx="51072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>
              <a:solidFill>
                <a:schemeClr val="accent1"/>
              </a:solidFill>
            </a:endParaRPr>
          </a:p>
        </p:txBody>
      </p:sp>
      <p:cxnSp>
        <p:nvCxnSpPr>
          <p:cNvPr id="247" name="Google Shape;247;p41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48" name="Google Shape;248;p4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49" name="Google Shape;249;p41"/>
          <p:cNvSpPr txBox="1"/>
          <p:nvPr/>
        </p:nvSpPr>
        <p:spPr>
          <a:xfrm>
            <a:off x="0" y="4620250"/>
            <a:ext cx="1026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ICISET 2022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Paper Id: 50</a:t>
            </a:r>
            <a:endParaRPr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2"/>
          <p:cNvSpPr txBox="1"/>
          <p:nvPr/>
        </p:nvSpPr>
        <p:spPr>
          <a:xfrm>
            <a:off x="917925" y="569750"/>
            <a:ext cx="41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p42"/>
          <p:cNvSpPr txBox="1"/>
          <p:nvPr/>
        </p:nvSpPr>
        <p:spPr>
          <a:xfrm>
            <a:off x="900300" y="492800"/>
            <a:ext cx="7343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OBJECTIVES</a:t>
            </a:r>
            <a:endParaRPr sz="24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6" name="Google Shape;256;p42"/>
          <p:cNvCxnSpPr/>
          <p:nvPr/>
        </p:nvCxnSpPr>
        <p:spPr>
          <a:xfrm>
            <a:off x="998200" y="404647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57" name="Google Shape;257;p42"/>
          <p:cNvSpPr txBox="1"/>
          <p:nvPr/>
        </p:nvSpPr>
        <p:spPr>
          <a:xfrm>
            <a:off x="0" y="2045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42"/>
          <p:cNvSpPr txBox="1"/>
          <p:nvPr/>
        </p:nvSpPr>
        <p:spPr>
          <a:xfrm>
            <a:off x="-62150" y="4620300"/>
            <a:ext cx="1155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ICISET 2022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Paper Id: 50</a:t>
            </a:r>
            <a:endParaRPr sz="11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p4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60" name="Google Shape;260;p42"/>
          <p:cNvSpPr txBox="1"/>
          <p:nvPr/>
        </p:nvSpPr>
        <p:spPr>
          <a:xfrm>
            <a:off x="1060350" y="1313575"/>
            <a:ext cx="7267800" cy="31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This hyperledger based system limits user access in various ways, but the owner has full access to all certificate management operations. </a:t>
            </a:r>
            <a:endParaRPr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assets created by conducting transactions become immutable in nature, thus preserving the transparency and accountability of the certificate management system.</a:t>
            </a:r>
            <a:endParaRPr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This technology gives significantly more security due to its decentralized and traceable nature.</a:t>
            </a:r>
            <a:endParaRPr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 txBox="1">
            <a:spLocks noGrp="1"/>
          </p:cNvSpPr>
          <p:nvPr>
            <p:ph type="subTitle" idx="1"/>
          </p:nvPr>
        </p:nvSpPr>
        <p:spPr>
          <a:xfrm>
            <a:off x="513150" y="4154786"/>
            <a:ext cx="418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Figure-1: System Approach</a:t>
            </a:r>
            <a:endParaRPr dirty="0"/>
          </a:p>
        </p:txBody>
      </p:sp>
      <p:sp>
        <p:nvSpPr>
          <p:cNvPr id="266" name="Google Shape;266;p43"/>
          <p:cNvSpPr txBox="1">
            <a:spLocks noGrp="1"/>
          </p:cNvSpPr>
          <p:nvPr>
            <p:ph type="ctrTitle"/>
          </p:nvPr>
        </p:nvSpPr>
        <p:spPr>
          <a:xfrm>
            <a:off x="5161384" y="1270676"/>
            <a:ext cx="3395400" cy="27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en" sz="1400" b="0" dirty="0">
                <a:latin typeface="Montserrat"/>
                <a:ea typeface="Montserrat"/>
                <a:cs typeface="Montserrat"/>
                <a:sym typeface="Montserrat"/>
              </a:rPr>
              <a:t>Necessary information will be collected from the user.</a:t>
            </a:r>
            <a:endParaRPr sz="1400" b="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en" sz="1400" b="0" dirty="0">
                <a:latin typeface="Montserrat"/>
                <a:ea typeface="Montserrat"/>
                <a:cs typeface="Montserrat"/>
                <a:sym typeface="Montserrat"/>
              </a:rPr>
              <a:t>Admin creates a certificate asset.</a:t>
            </a:r>
            <a:endParaRPr sz="1400" b="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en" sz="1400" b="0" dirty="0">
                <a:latin typeface="Montserrat"/>
                <a:ea typeface="Montserrat"/>
                <a:cs typeface="Montserrat"/>
                <a:sym typeface="Montserrat"/>
              </a:rPr>
              <a:t>Users have some constraints while using the system.</a:t>
            </a:r>
            <a:endParaRPr sz="1400" b="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en" sz="1400" b="0" dirty="0">
                <a:latin typeface="Montserrat"/>
                <a:ea typeface="Montserrat"/>
                <a:cs typeface="Montserrat"/>
                <a:sym typeface="Montserrat"/>
              </a:rPr>
              <a:t>Every certificate asset has an asset ID.</a:t>
            </a:r>
            <a:endParaRPr sz="2700" dirty="0"/>
          </a:p>
        </p:txBody>
      </p:sp>
      <p:sp>
        <p:nvSpPr>
          <p:cNvPr id="267" name="Google Shape;267;p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268" name="Google Shape;268;p43"/>
          <p:cNvSpPr txBox="1"/>
          <p:nvPr/>
        </p:nvSpPr>
        <p:spPr>
          <a:xfrm>
            <a:off x="0" y="4620250"/>
            <a:ext cx="1026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ICISET 2022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Paper Id: 50</a:t>
            </a:r>
            <a:endParaRPr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" name="Google Shape;269;p43"/>
          <p:cNvSpPr txBox="1"/>
          <p:nvPr/>
        </p:nvSpPr>
        <p:spPr>
          <a:xfrm>
            <a:off x="1336100" y="421925"/>
            <a:ext cx="435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43"/>
          <p:cNvSpPr txBox="1"/>
          <p:nvPr/>
        </p:nvSpPr>
        <p:spPr>
          <a:xfrm>
            <a:off x="900300" y="492800"/>
            <a:ext cx="7343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PROPOSED APPROACH</a:t>
            </a:r>
            <a:endParaRPr sz="24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1" name="Google Shape;27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107" y="1046900"/>
            <a:ext cx="4428336" cy="3043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2" name="Google Shape;272;p43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80" name="Google Shape;280;p44"/>
          <p:cNvSpPr txBox="1"/>
          <p:nvPr/>
        </p:nvSpPr>
        <p:spPr>
          <a:xfrm>
            <a:off x="0" y="4620250"/>
            <a:ext cx="1026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ICISET 2022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Paper Id: 50</a:t>
            </a:r>
            <a:endParaRPr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" name="Google Shape;281;p44"/>
          <p:cNvSpPr txBox="1"/>
          <p:nvPr/>
        </p:nvSpPr>
        <p:spPr>
          <a:xfrm>
            <a:off x="1336100" y="421925"/>
            <a:ext cx="435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p44"/>
          <p:cNvSpPr txBox="1"/>
          <p:nvPr/>
        </p:nvSpPr>
        <p:spPr>
          <a:xfrm>
            <a:off x="900300" y="553863"/>
            <a:ext cx="7343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METHODOLOGY</a:t>
            </a:r>
            <a:endParaRPr sz="24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p44"/>
          <p:cNvSpPr txBox="1">
            <a:spLocks noGrp="1"/>
          </p:cNvSpPr>
          <p:nvPr>
            <p:ph type="body" idx="4294967295"/>
          </p:nvPr>
        </p:nvSpPr>
        <p:spPr>
          <a:xfrm>
            <a:off x="900300" y="1247800"/>
            <a:ext cx="7193100" cy="34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1. Create Assets</a:t>
            </a:r>
            <a:endParaRPr sz="17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2. Execution of Transaction</a:t>
            </a:r>
            <a:endParaRPr sz="17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3. Determine Participant Types</a:t>
            </a:r>
            <a:endParaRPr sz="17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4. Maintain Assets in Asset Registry</a:t>
            </a:r>
            <a:endParaRPr sz="17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5. Transactions from the Historian Records</a:t>
            </a:r>
            <a:endParaRPr sz="17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6. Transaction Query in Historian Records</a:t>
            </a:r>
            <a:endParaRPr sz="17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7. Establishing Privacy Setting Regulations</a:t>
            </a:r>
            <a:endParaRPr sz="17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1700">
              <a:solidFill>
                <a:schemeClr val="lt1"/>
              </a:solidFill>
            </a:endParaRPr>
          </a:p>
        </p:txBody>
      </p:sp>
      <p:cxnSp>
        <p:nvCxnSpPr>
          <p:cNvPr id="284" name="Google Shape;284;p4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5"/>
          <p:cNvSpPr txBox="1">
            <a:spLocks noGrp="1"/>
          </p:cNvSpPr>
          <p:nvPr>
            <p:ph type="subTitle" idx="1"/>
          </p:nvPr>
        </p:nvSpPr>
        <p:spPr>
          <a:xfrm>
            <a:off x="2537318" y="4345387"/>
            <a:ext cx="44097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Figure-2: System Information Flow and Interaction With Blockchain</a:t>
            </a:r>
            <a:endParaRPr dirty="0"/>
          </a:p>
        </p:txBody>
      </p:sp>
      <p:sp>
        <p:nvSpPr>
          <p:cNvPr id="291" name="Google Shape;291;p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292" name="Google Shape;292;p45"/>
          <p:cNvSpPr txBox="1"/>
          <p:nvPr/>
        </p:nvSpPr>
        <p:spPr>
          <a:xfrm>
            <a:off x="0" y="4620250"/>
            <a:ext cx="1026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ICISET 2022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Paper Id: 50</a:t>
            </a:r>
            <a:endParaRPr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" name="Google Shape;293;p45"/>
          <p:cNvSpPr txBox="1"/>
          <p:nvPr/>
        </p:nvSpPr>
        <p:spPr>
          <a:xfrm>
            <a:off x="1336100" y="421925"/>
            <a:ext cx="435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45"/>
          <p:cNvSpPr txBox="1"/>
          <p:nvPr/>
        </p:nvSpPr>
        <p:spPr>
          <a:xfrm>
            <a:off x="900300" y="492800"/>
            <a:ext cx="7343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METHODOLOGY</a:t>
            </a:r>
            <a:endParaRPr sz="2400" b="1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5" name="Google Shape;295;p45"/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67000"/>
                    </a14:imgEffect>
                  </a14:imgLayer>
                </a14:imgProps>
              </a:ext>
            </a:extLst>
          </a:blip>
          <a:srcRect t="3316" r="7749"/>
          <a:stretch/>
        </p:blipFill>
        <p:spPr>
          <a:xfrm>
            <a:off x="408710" y="1046900"/>
            <a:ext cx="4513719" cy="32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5"/>
          <p:cNvPicPr preferRelativeResize="0"/>
          <p:nvPr/>
        </p:nvPicPr>
        <p:blipFill rotWithShape="1">
          <a:blip r:embed="rId5"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48000"/>
                    </a14:imgEffect>
                  </a14:imgLayer>
                </a14:imgProps>
              </a:ext>
            </a:extLst>
          </a:blip>
          <a:srcRect l="4318" t="3136" r="11661" b="5413"/>
          <a:stretch/>
        </p:blipFill>
        <p:spPr>
          <a:xfrm>
            <a:off x="5063837" y="1370737"/>
            <a:ext cx="3927763" cy="2402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7" name="Google Shape;297;p4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6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 ANALYSIS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03" name="Google Shape;303;p46"/>
          <p:cNvSpPr txBox="1">
            <a:spLocks noGrp="1"/>
          </p:cNvSpPr>
          <p:nvPr>
            <p:ph type="body" idx="1"/>
          </p:nvPr>
        </p:nvSpPr>
        <p:spPr>
          <a:xfrm>
            <a:off x="1026200" y="986200"/>
            <a:ext cx="7198800" cy="10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★"/>
            </a:pPr>
            <a:r>
              <a:rPr lang="en" sz="1500"/>
              <a:t>Admin creates the assets and all of our system's assets information will be retained in the asset registry. The asset registry will be adjusted whenever the admin introduces a new asset. 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cxnSp>
        <p:nvCxnSpPr>
          <p:cNvPr id="304" name="Google Shape;304;p46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305" name="Google Shape;305;p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306" name="Google Shape;30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9375" y="1940300"/>
            <a:ext cx="5433733" cy="260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6"/>
          <p:cNvSpPr txBox="1"/>
          <p:nvPr/>
        </p:nvSpPr>
        <p:spPr>
          <a:xfrm>
            <a:off x="2360775" y="4801950"/>
            <a:ext cx="360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8" name="Google Shape;308;p46"/>
          <p:cNvSpPr txBox="1"/>
          <p:nvPr/>
        </p:nvSpPr>
        <p:spPr>
          <a:xfrm>
            <a:off x="2257350" y="4546451"/>
            <a:ext cx="4629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Figure-3: Asset Registry For Certificate System</a:t>
            </a:r>
            <a:endParaRPr dirty="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46"/>
          <p:cNvSpPr txBox="1"/>
          <p:nvPr/>
        </p:nvSpPr>
        <p:spPr>
          <a:xfrm>
            <a:off x="0" y="4620300"/>
            <a:ext cx="1026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ICISET 2022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Paper Id: 50</a:t>
            </a:r>
            <a:endParaRPr sz="11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" name="Google Shape;314;p47"/>
          <p:cNvCxnSpPr/>
          <p:nvPr/>
        </p:nvCxnSpPr>
        <p:spPr>
          <a:xfrm>
            <a:off x="1185975" y="45947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315" name="Google Shape;315;p47"/>
          <p:cNvSpPr txBox="1">
            <a:spLocks noGrp="1"/>
          </p:cNvSpPr>
          <p:nvPr>
            <p:ph type="title"/>
          </p:nvPr>
        </p:nvSpPr>
        <p:spPr>
          <a:xfrm>
            <a:off x="1535488" y="2372750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47"/>
          <p:cNvSpPr txBox="1">
            <a:spLocks noGrp="1"/>
          </p:cNvSpPr>
          <p:nvPr>
            <p:ph type="subTitle" idx="1"/>
          </p:nvPr>
        </p:nvSpPr>
        <p:spPr>
          <a:xfrm>
            <a:off x="1535488" y="3057650"/>
            <a:ext cx="239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47"/>
          <p:cNvSpPr txBox="1">
            <a:spLocks noGrp="1"/>
          </p:cNvSpPr>
          <p:nvPr>
            <p:ph type="title" idx="2"/>
          </p:nvPr>
        </p:nvSpPr>
        <p:spPr>
          <a:xfrm>
            <a:off x="4414713" y="2372750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47"/>
          <p:cNvSpPr txBox="1">
            <a:spLocks noGrp="1"/>
          </p:cNvSpPr>
          <p:nvPr>
            <p:ph type="subTitle" idx="3"/>
          </p:nvPr>
        </p:nvSpPr>
        <p:spPr>
          <a:xfrm>
            <a:off x="4414713" y="3057650"/>
            <a:ext cx="239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47"/>
          <p:cNvSpPr txBox="1">
            <a:spLocks noGrp="1"/>
          </p:cNvSpPr>
          <p:nvPr>
            <p:ph type="sldNum" idx="12"/>
          </p:nvPr>
        </p:nvSpPr>
        <p:spPr>
          <a:xfrm>
            <a:off x="8154934" y="46594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320" name="Google Shape;320;p47"/>
          <p:cNvSpPr txBox="1"/>
          <p:nvPr/>
        </p:nvSpPr>
        <p:spPr>
          <a:xfrm>
            <a:off x="624350" y="507875"/>
            <a:ext cx="62385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1" name="Google Shape;32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5975" y="1275850"/>
            <a:ext cx="6499125" cy="3123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7"/>
          <p:cNvSpPr txBox="1"/>
          <p:nvPr/>
        </p:nvSpPr>
        <p:spPr>
          <a:xfrm>
            <a:off x="3013775" y="4641200"/>
            <a:ext cx="4008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" name="Google Shape;323;p47"/>
          <p:cNvSpPr txBox="1"/>
          <p:nvPr/>
        </p:nvSpPr>
        <p:spPr>
          <a:xfrm>
            <a:off x="3013775" y="44355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Figure-4: Historian Record </a:t>
            </a:r>
            <a:endParaRPr dirty="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4" name="Google Shape;324;p47"/>
          <p:cNvSpPr txBox="1"/>
          <p:nvPr/>
        </p:nvSpPr>
        <p:spPr>
          <a:xfrm>
            <a:off x="1074900" y="507875"/>
            <a:ext cx="5531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RESULT ANALYSIS</a:t>
            </a:r>
            <a:endParaRPr sz="2400">
              <a:solidFill>
                <a:schemeClr val="l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25" name="Google Shape;325;p47"/>
          <p:cNvSpPr txBox="1"/>
          <p:nvPr/>
        </p:nvSpPr>
        <p:spPr>
          <a:xfrm>
            <a:off x="0" y="4594625"/>
            <a:ext cx="1074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ICISET 2022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Paper Id: 50</a:t>
            </a:r>
            <a:endParaRPr sz="11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0" name="Google Shape;330;p48"/>
          <p:cNvCxnSpPr/>
          <p:nvPr/>
        </p:nvCxnSpPr>
        <p:spPr>
          <a:xfrm>
            <a:off x="789450" y="450284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331" name="Google Shape;331;p48"/>
          <p:cNvSpPr txBox="1">
            <a:spLocks noGrp="1"/>
          </p:cNvSpPr>
          <p:nvPr>
            <p:ph type="title"/>
          </p:nvPr>
        </p:nvSpPr>
        <p:spPr>
          <a:xfrm>
            <a:off x="1535488" y="2372750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48"/>
          <p:cNvSpPr txBox="1">
            <a:spLocks noGrp="1"/>
          </p:cNvSpPr>
          <p:nvPr>
            <p:ph type="title" idx="2"/>
          </p:nvPr>
        </p:nvSpPr>
        <p:spPr>
          <a:xfrm>
            <a:off x="4414713" y="2372750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48"/>
          <p:cNvSpPr txBox="1">
            <a:spLocks noGrp="1"/>
          </p:cNvSpPr>
          <p:nvPr>
            <p:ph type="sldNum" idx="12"/>
          </p:nvPr>
        </p:nvSpPr>
        <p:spPr>
          <a:xfrm>
            <a:off x="8154934" y="46594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336" name="Google Shape;336;p48"/>
          <p:cNvSpPr txBox="1"/>
          <p:nvPr/>
        </p:nvSpPr>
        <p:spPr>
          <a:xfrm>
            <a:off x="624350" y="507875"/>
            <a:ext cx="62385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7" name="Google Shape;337;p48"/>
          <p:cNvSpPr txBox="1"/>
          <p:nvPr/>
        </p:nvSpPr>
        <p:spPr>
          <a:xfrm>
            <a:off x="3013775" y="4641200"/>
            <a:ext cx="4008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" name="Google Shape;338;p48"/>
          <p:cNvSpPr txBox="1"/>
          <p:nvPr/>
        </p:nvSpPr>
        <p:spPr>
          <a:xfrm>
            <a:off x="3150017" y="43264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Figure-5: Create Transaction </a:t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p48"/>
          <p:cNvSpPr txBox="1"/>
          <p:nvPr/>
        </p:nvSpPr>
        <p:spPr>
          <a:xfrm>
            <a:off x="703750" y="474688"/>
            <a:ext cx="5531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RESULT ANALYSIS</a:t>
            </a:r>
            <a:endParaRPr sz="2400">
              <a:solidFill>
                <a:schemeClr val="l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40" name="Google Shape;34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450" y="1076800"/>
            <a:ext cx="7565099" cy="3080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48"/>
          <p:cNvSpPr txBox="1"/>
          <p:nvPr/>
        </p:nvSpPr>
        <p:spPr>
          <a:xfrm>
            <a:off x="0" y="4594625"/>
            <a:ext cx="1145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ICISET 2022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Paper Id: 50</a:t>
            </a:r>
            <a:endParaRPr sz="11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6" name="Google Shape;346;p49"/>
          <p:cNvCxnSpPr/>
          <p:nvPr/>
        </p:nvCxnSpPr>
        <p:spPr>
          <a:xfrm>
            <a:off x="1025175" y="4066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347" name="Google Shape;347;p49"/>
          <p:cNvSpPr txBox="1">
            <a:spLocks noGrp="1"/>
          </p:cNvSpPr>
          <p:nvPr>
            <p:ph type="title"/>
          </p:nvPr>
        </p:nvSpPr>
        <p:spPr>
          <a:xfrm>
            <a:off x="1535488" y="2372750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49"/>
          <p:cNvSpPr txBox="1">
            <a:spLocks noGrp="1"/>
          </p:cNvSpPr>
          <p:nvPr>
            <p:ph type="subTitle" idx="1"/>
          </p:nvPr>
        </p:nvSpPr>
        <p:spPr>
          <a:xfrm>
            <a:off x="1535488" y="3057650"/>
            <a:ext cx="239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49"/>
          <p:cNvSpPr txBox="1">
            <a:spLocks noGrp="1"/>
          </p:cNvSpPr>
          <p:nvPr>
            <p:ph type="title" idx="2"/>
          </p:nvPr>
        </p:nvSpPr>
        <p:spPr>
          <a:xfrm>
            <a:off x="4414713" y="2372750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49"/>
          <p:cNvSpPr txBox="1">
            <a:spLocks noGrp="1"/>
          </p:cNvSpPr>
          <p:nvPr>
            <p:ph type="subTitle" idx="3"/>
          </p:nvPr>
        </p:nvSpPr>
        <p:spPr>
          <a:xfrm>
            <a:off x="4414713" y="3057650"/>
            <a:ext cx="239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49"/>
          <p:cNvSpPr txBox="1">
            <a:spLocks noGrp="1"/>
          </p:cNvSpPr>
          <p:nvPr>
            <p:ph type="sldNum" idx="12"/>
          </p:nvPr>
        </p:nvSpPr>
        <p:spPr>
          <a:xfrm>
            <a:off x="8154934" y="46594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352" name="Google Shape;352;p49"/>
          <p:cNvSpPr txBox="1"/>
          <p:nvPr/>
        </p:nvSpPr>
        <p:spPr>
          <a:xfrm>
            <a:off x="624350" y="507875"/>
            <a:ext cx="62385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3" name="Google Shape;353;p49"/>
          <p:cNvSpPr txBox="1"/>
          <p:nvPr/>
        </p:nvSpPr>
        <p:spPr>
          <a:xfrm>
            <a:off x="3013775" y="4641200"/>
            <a:ext cx="4008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4" name="Google Shape;354;p49"/>
          <p:cNvSpPr txBox="1"/>
          <p:nvPr/>
        </p:nvSpPr>
        <p:spPr>
          <a:xfrm>
            <a:off x="3306603" y="4407987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Figure-5: Update Transaction </a:t>
            </a:r>
            <a:endParaRPr dirty="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5" name="Google Shape;355;p49"/>
          <p:cNvSpPr txBox="1"/>
          <p:nvPr/>
        </p:nvSpPr>
        <p:spPr>
          <a:xfrm>
            <a:off x="894600" y="535413"/>
            <a:ext cx="5531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RESULT ANALYSIS</a:t>
            </a:r>
            <a:endParaRPr sz="2400">
              <a:solidFill>
                <a:schemeClr val="l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56" name="Google Shape;35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600" y="1218313"/>
            <a:ext cx="7824007" cy="3128088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9"/>
          <p:cNvSpPr txBox="1"/>
          <p:nvPr/>
        </p:nvSpPr>
        <p:spPr>
          <a:xfrm>
            <a:off x="0" y="4594625"/>
            <a:ext cx="1095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ICISET 2022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Paper Id: 50</a:t>
            </a:r>
            <a:endParaRPr sz="11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2" name="Google Shape;362;p50"/>
          <p:cNvCxnSpPr/>
          <p:nvPr/>
        </p:nvCxnSpPr>
        <p:spPr>
          <a:xfrm>
            <a:off x="1082500" y="353159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363" name="Google Shape;363;p50"/>
          <p:cNvSpPr txBox="1">
            <a:spLocks noGrp="1"/>
          </p:cNvSpPr>
          <p:nvPr>
            <p:ph type="title"/>
          </p:nvPr>
        </p:nvSpPr>
        <p:spPr>
          <a:xfrm>
            <a:off x="1493888" y="1769025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50"/>
          <p:cNvSpPr txBox="1">
            <a:spLocks noGrp="1"/>
          </p:cNvSpPr>
          <p:nvPr>
            <p:ph type="subTitle" idx="1"/>
          </p:nvPr>
        </p:nvSpPr>
        <p:spPr>
          <a:xfrm>
            <a:off x="1680338" y="2520250"/>
            <a:ext cx="239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50"/>
          <p:cNvSpPr txBox="1">
            <a:spLocks noGrp="1"/>
          </p:cNvSpPr>
          <p:nvPr>
            <p:ph type="title" idx="2"/>
          </p:nvPr>
        </p:nvSpPr>
        <p:spPr>
          <a:xfrm>
            <a:off x="4414713" y="1585875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50"/>
          <p:cNvSpPr txBox="1">
            <a:spLocks noGrp="1"/>
          </p:cNvSpPr>
          <p:nvPr>
            <p:ph type="subTitle" idx="3"/>
          </p:nvPr>
        </p:nvSpPr>
        <p:spPr>
          <a:xfrm>
            <a:off x="4414713" y="2511175"/>
            <a:ext cx="239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50"/>
          <p:cNvSpPr txBox="1">
            <a:spLocks noGrp="1"/>
          </p:cNvSpPr>
          <p:nvPr>
            <p:ph type="sldNum" idx="12"/>
          </p:nvPr>
        </p:nvSpPr>
        <p:spPr>
          <a:xfrm>
            <a:off x="8154934" y="46594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368" name="Google Shape;368;p50"/>
          <p:cNvSpPr txBox="1"/>
          <p:nvPr/>
        </p:nvSpPr>
        <p:spPr>
          <a:xfrm>
            <a:off x="532425" y="507875"/>
            <a:ext cx="63303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9" name="Google Shape;369;p50"/>
          <p:cNvSpPr txBox="1"/>
          <p:nvPr/>
        </p:nvSpPr>
        <p:spPr>
          <a:xfrm>
            <a:off x="3013775" y="4641200"/>
            <a:ext cx="4008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0" name="Google Shape;370;p50"/>
          <p:cNvSpPr txBox="1"/>
          <p:nvPr/>
        </p:nvSpPr>
        <p:spPr>
          <a:xfrm>
            <a:off x="1962400" y="723235"/>
            <a:ext cx="5450400" cy="1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Table I: Time Needed to Execute Transactions in Various Blockchain Technologies</a:t>
            </a:r>
            <a:endParaRPr dirty="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1" name="Google Shape;371;p50"/>
          <p:cNvSpPr txBox="1"/>
          <p:nvPr/>
        </p:nvSpPr>
        <p:spPr>
          <a:xfrm>
            <a:off x="1082500" y="433513"/>
            <a:ext cx="5531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RESULT ANALYSIS</a:t>
            </a:r>
            <a:endParaRPr sz="2400">
              <a:solidFill>
                <a:schemeClr val="l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aphicFrame>
        <p:nvGraphicFramePr>
          <p:cNvPr id="372" name="Google Shape;372;p50"/>
          <p:cNvGraphicFramePr/>
          <p:nvPr>
            <p:extLst>
              <p:ext uri="{D42A27DB-BD31-4B8C-83A1-F6EECF244321}">
                <p14:modId xmlns:p14="http://schemas.microsoft.com/office/powerpoint/2010/main" val="909113095"/>
              </p:ext>
            </p:extLst>
          </p:nvPr>
        </p:nvGraphicFramePr>
        <p:xfrm>
          <a:off x="1130991" y="1587916"/>
          <a:ext cx="7239000" cy="3200190"/>
        </p:xfrm>
        <a:graphic>
          <a:graphicData uri="http://schemas.openxmlformats.org/drawingml/2006/table">
            <a:tbl>
              <a:tblPr>
                <a:noFill/>
                <a:tableStyleId>{55A93621-D3AE-4499-8E4A-07BBF22F6F40}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Number of transitions</a:t>
                      </a:r>
                      <a:endParaRPr b="1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9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Time for Hyperledger (In second)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9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Time for Ethereum (In second)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9E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Time for Bitcoin(In second)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9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350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7.53 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40.9 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42.89 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C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6.43 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32.89 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35.675 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C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4.58 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25.5 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27.68 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C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3.26 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19.85 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21.54 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C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2.45 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12.9 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15.26 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C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1.98 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5.35 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7.185 s</a:t>
                      </a:r>
                      <a:endParaRPr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2C2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73" name="Google Shape;373;p50"/>
          <p:cNvSpPr txBox="1"/>
          <p:nvPr/>
        </p:nvSpPr>
        <p:spPr>
          <a:xfrm>
            <a:off x="0" y="4594625"/>
            <a:ext cx="1205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ICISET 2022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Paper Id: 50</a:t>
            </a:r>
            <a:endParaRPr sz="11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8" name="Google Shape;378;p51"/>
          <p:cNvCxnSpPr/>
          <p:nvPr/>
        </p:nvCxnSpPr>
        <p:spPr>
          <a:xfrm>
            <a:off x="964400" y="44877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379" name="Google Shape;379;p51"/>
          <p:cNvSpPr txBox="1">
            <a:spLocks noGrp="1"/>
          </p:cNvSpPr>
          <p:nvPr>
            <p:ph type="title"/>
          </p:nvPr>
        </p:nvSpPr>
        <p:spPr>
          <a:xfrm>
            <a:off x="1535488" y="2372750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51"/>
          <p:cNvSpPr txBox="1">
            <a:spLocks noGrp="1"/>
          </p:cNvSpPr>
          <p:nvPr>
            <p:ph type="title" idx="2"/>
          </p:nvPr>
        </p:nvSpPr>
        <p:spPr>
          <a:xfrm>
            <a:off x="4414713" y="2372750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51"/>
          <p:cNvSpPr txBox="1">
            <a:spLocks noGrp="1"/>
          </p:cNvSpPr>
          <p:nvPr>
            <p:ph type="sldNum" idx="12"/>
          </p:nvPr>
        </p:nvSpPr>
        <p:spPr>
          <a:xfrm>
            <a:off x="8154934" y="46594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384" name="Google Shape;384;p51"/>
          <p:cNvSpPr txBox="1"/>
          <p:nvPr/>
        </p:nvSpPr>
        <p:spPr>
          <a:xfrm>
            <a:off x="624350" y="507875"/>
            <a:ext cx="62385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5" name="Google Shape;385;p51"/>
          <p:cNvSpPr txBox="1"/>
          <p:nvPr/>
        </p:nvSpPr>
        <p:spPr>
          <a:xfrm>
            <a:off x="3013775" y="4641200"/>
            <a:ext cx="4008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6" name="Google Shape;386;p51"/>
          <p:cNvSpPr txBox="1"/>
          <p:nvPr/>
        </p:nvSpPr>
        <p:spPr>
          <a:xfrm>
            <a:off x="2548882" y="4281063"/>
            <a:ext cx="4430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Figure-6: Comparison of Computation Time For Three Blockchain Systems</a:t>
            </a:r>
            <a:endParaRPr dirty="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7" name="Google Shape;387;p51"/>
          <p:cNvSpPr txBox="1"/>
          <p:nvPr/>
        </p:nvSpPr>
        <p:spPr>
          <a:xfrm>
            <a:off x="793625" y="507863"/>
            <a:ext cx="5531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RESULT ANALYSIS</a:t>
            </a:r>
            <a:endParaRPr sz="2400">
              <a:solidFill>
                <a:schemeClr val="l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88" name="Google Shape;388;p51"/>
          <p:cNvPicPr preferRelativeResize="0"/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8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43890" y="1061963"/>
            <a:ext cx="6743327" cy="3147881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51"/>
          <p:cNvSpPr txBox="1"/>
          <p:nvPr/>
        </p:nvSpPr>
        <p:spPr>
          <a:xfrm>
            <a:off x="0" y="4594625"/>
            <a:ext cx="1105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ICISET 2022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Paper Id: 50</a:t>
            </a:r>
            <a:endParaRPr sz="11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2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AND FUTURE RECOMMENDATION</a:t>
            </a:r>
            <a:endParaRPr/>
          </a:p>
        </p:txBody>
      </p:sp>
      <p:sp>
        <p:nvSpPr>
          <p:cNvPr id="395" name="Google Shape;395;p52"/>
          <p:cNvSpPr txBox="1">
            <a:spLocks noGrp="1"/>
          </p:cNvSpPr>
          <p:nvPr>
            <p:ph type="body" idx="1"/>
          </p:nvPr>
        </p:nvSpPr>
        <p:spPr>
          <a:xfrm>
            <a:off x="997200" y="1622888"/>
            <a:ext cx="71496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 system is stable and more authentic.</a:t>
            </a:r>
            <a:endParaRPr sz="1700"/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Highly secure and cryptocurrency is prohibited.</a:t>
            </a:r>
            <a:endParaRPr sz="1700"/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Provide transparency and traceability of data shared across a network.</a:t>
            </a:r>
            <a:endParaRPr sz="1700"/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Compare to other system, hyperledger process more rapidly.</a:t>
            </a:r>
            <a:endParaRPr sz="1700"/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Hyperledger Sawtooth can be used to process parallel transactions in the future.</a:t>
            </a:r>
            <a:endParaRPr sz="1700"/>
          </a:p>
          <a:p>
            <a:pPr marL="45720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cxnSp>
        <p:nvCxnSpPr>
          <p:cNvPr id="396" name="Google Shape;396;p52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397" name="Google Shape;397;p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398" name="Google Shape;398;p52"/>
          <p:cNvSpPr txBox="1"/>
          <p:nvPr/>
        </p:nvSpPr>
        <p:spPr>
          <a:xfrm>
            <a:off x="0" y="4620250"/>
            <a:ext cx="1074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ICISET 2022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Paper Id: 50</a:t>
            </a:r>
            <a:endParaRPr sz="11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3"/>
          <p:cNvSpPr txBox="1">
            <a:spLocks noGrp="1"/>
          </p:cNvSpPr>
          <p:nvPr>
            <p:ph type="ctrTitle"/>
          </p:nvPr>
        </p:nvSpPr>
        <p:spPr>
          <a:xfrm>
            <a:off x="1273500" y="1369000"/>
            <a:ext cx="6597000" cy="9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cxnSp>
        <p:nvCxnSpPr>
          <p:cNvPr id="404" name="Google Shape;404;p53"/>
          <p:cNvCxnSpPr/>
          <p:nvPr/>
        </p:nvCxnSpPr>
        <p:spPr>
          <a:xfrm>
            <a:off x="3130225" y="313787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405" name="Google Shape;405;p5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406" name="Google Shape;406;p53"/>
          <p:cNvSpPr txBox="1"/>
          <p:nvPr/>
        </p:nvSpPr>
        <p:spPr>
          <a:xfrm>
            <a:off x="0" y="4620300"/>
            <a:ext cx="1225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ICISET 2022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Paper Id: 50</a:t>
            </a:r>
            <a:endParaRPr sz="11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880</Words>
  <Application>Microsoft Office PowerPoint</Application>
  <PresentationFormat>On-screen Show (16:9)</PresentationFormat>
  <Paragraphs>177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Montserrat ExtraBold</vt:lpstr>
      <vt:lpstr>Montserrat Medium</vt:lpstr>
      <vt:lpstr>Montserrat</vt:lpstr>
      <vt:lpstr>Arial</vt:lpstr>
      <vt:lpstr>Futuristic Background by Slidesgo</vt:lpstr>
      <vt:lpstr>International Conference On Innovations In Science,Engineering And Technology 2022 (ICISET-2022)</vt:lpstr>
      <vt:lpstr>CONTENTS</vt:lpstr>
      <vt:lpstr>INTRODUCTION</vt:lpstr>
      <vt:lpstr>PowerPoint Presentation</vt:lpstr>
      <vt:lpstr>PowerPoint Presentation</vt:lpstr>
      <vt:lpstr>PROBLEM STATEMENT</vt:lpstr>
      <vt:lpstr>PowerPoint Presentation</vt:lpstr>
      <vt:lpstr>Necessary information will be collected from the user. Admin creates a certificate asset. Users have some constraints while using the system. Every certificate asset has an asset ID.</vt:lpstr>
      <vt:lpstr>PowerPoint Presentation</vt:lpstr>
      <vt:lpstr>PowerPoint Presentation</vt:lpstr>
      <vt:lpstr>RESULT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 AND FUTURE RECOMMENDATION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Conference On Innovations In Science,Engineering And Technology 2022 (ICISET-2022)</dc:title>
  <cp:lastModifiedBy>Saha Reno</cp:lastModifiedBy>
  <cp:revision>4</cp:revision>
  <dcterms:modified xsi:type="dcterms:W3CDTF">2022-02-18T06:15:09Z</dcterms:modified>
</cp:coreProperties>
</file>